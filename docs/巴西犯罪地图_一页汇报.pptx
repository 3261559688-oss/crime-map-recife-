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PingFang SC"/>
              </a:rPr>
              <a:t>🗺️  巴西全国犯罪事件实时地图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BBF24"/>
                </a:solidFill>
                <a:latin typeface="PingFang SC"/>
              </a:rPr>
              <a:t>Crime Map Brasil  ·  MVP 项目汇报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3657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60A5FA"/>
                </a:solidFill>
                <a:latin typeface="PingFang SC"/>
              </a:rPr>
              <a:t>🌐 crime-map-recife.vercel.app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7772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>
                <a:solidFill>
                  <a:srgbClr val="22C55E"/>
                </a:solidFill>
                <a:latin typeface="PingFang SC"/>
              </a:rPr>
              <a:t>运营成本 $0/月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25880"/>
            <a:ext cx="11247120" cy="2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3657600" cy="237744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916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BBF24"/>
                </a:solidFill>
                <a:latin typeface="PingFang SC"/>
              </a:rPr>
              <a:t>🇺🇸 竞品：NewsBreak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94560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FBBF24"/>
                </a:solidFill>
                <a:latin typeface="PingFang SC"/>
              </a:rPr>
              <a:t>• MAU：</a:t>
            </a:r>
            <a:r>
              <a:rPr sz="1100">
                <a:solidFill>
                  <a:srgbClr val="E5E7EB"/>
                </a:solidFill>
                <a:latin typeface="PingFang SC"/>
              </a:rPr>
              <a:t>4500 万 (美国第 2 大新闻 App)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FBBF24"/>
                </a:solidFill>
                <a:latin typeface="PingFang SC"/>
              </a:rPr>
              <a:t>• 覆盖：</a:t>
            </a:r>
            <a:r>
              <a:rPr sz="1100">
                <a:solidFill>
                  <a:srgbClr val="E5E7EB"/>
                </a:solidFill>
                <a:latin typeface="PingFang SC"/>
              </a:rPr>
              <a:t>41,000+ 邮编 → 极致本地化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FBBF24"/>
                </a:solidFill>
                <a:latin typeface="PingFang SC"/>
              </a:rPr>
              <a:t>• 更新：</a:t>
            </a:r>
            <a:r>
              <a:rPr sz="1100">
                <a:solidFill>
                  <a:srgbClr val="E5E7EB"/>
                </a:solidFill>
                <a:latin typeface="PingFang SC"/>
              </a:rPr>
              <a:t>100 万篇/天 (大量 AI 重写)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FBBF24"/>
                </a:solidFill>
                <a:latin typeface="PingFang SC"/>
              </a:rPr>
              <a:t>• 风险：</a:t>
            </a:r>
            <a:r>
              <a:rPr sz="1100">
                <a:solidFill>
                  <a:srgbClr val="E5E7EB"/>
                </a:solidFill>
                <a:latin typeface="PingFang SC"/>
              </a:rPr>
              <a:t>版权纠纷 / AI 假新闻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FBBF24"/>
                </a:solidFill>
                <a:latin typeface="PingFang SC"/>
              </a:rPr>
              <a:t>• 启示：</a:t>
            </a:r>
            <a:r>
              <a:rPr sz="1100">
                <a:solidFill>
                  <a:srgbClr val="E5E7EB"/>
                </a:solidFill>
                <a:latin typeface="PingFang SC"/>
              </a:rPr>
              <a:t>巴西本地化是空白市场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554480"/>
            <a:ext cx="3657600" cy="2377440"/>
          </a:xfrm>
          <a:prstGeom prst="roundRect">
            <a:avLst/>
          </a:prstGeom>
          <a:solidFill>
            <a:srgbClr val="7F1D1D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6916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PingFang SC"/>
              </a:rPr>
              <a:t>🚀 我们做了什么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194560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  <a:latin typeface="PingFang SC"/>
              </a:rPr>
              <a:t>✓ 聚合 153 个 RSS 源 (G1/UOL/Folha+地方报)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  <a:latin typeface="PingFang SC"/>
              </a:rPr>
              <a:t>✓ 20 线程并行抓取，30 秒抓完全量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  <a:latin typeface="PingFang SC"/>
              </a:rPr>
              <a:t>✓ 11 类犯罪 + 60 关键词智能分类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  <a:latin typeface="PingFang SC"/>
              </a:rPr>
              <a:t>✓ 7 天滚动窗口，URL 哈希去重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  <a:latin typeface="PingFang SC"/>
              </a:rPr>
              <a:t>✓ GitHub Actions 每 30 分钟自动更新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  <a:latin typeface="PingFang SC"/>
              </a:rPr>
              <a:t>✓ Vercel 自动部署，全球 CDN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  <a:latin typeface="PingFang SC"/>
              </a:rPr>
              <a:t>✓ 响应式前端，PC/手机沉浸体验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554480"/>
            <a:ext cx="3657600" cy="2377440"/>
          </a:xfrm>
          <a:prstGeom prst="roundRect">
            <a:avLst/>
          </a:prstGeom>
          <a:solidFill>
            <a:srgbClr val="054F31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6916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22C55E"/>
                </a:solidFill>
                <a:latin typeface="PingFang SC"/>
              </a:rPr>
              <a:t>📊 关键成果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194560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22C55E"/>
                </a:solidFill>
                <a:latin typeface="PingFang SC"/>
              </a:rPr>
              <a:t>2042  </a:t>
            </a:r>
            <a:r>
              <a:rPr sz="1100">
                <a:solidFill>
                  <a:srgbClr val="E5E7EB"/>
                </a:solidFill>
                <a:latin typeface="PingFang SC"/>
              </a:rPr>
              <a:t>条事件 (84→2042，+2330%)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22C55E"/>
                </a:solidFill>
                <a:latin typeface="PingFang SC"/>
              </a:rPr>
              <a:t>27 州  </a:t>
            </a:r>
            <a:r>
              <a:rPr sz="1100">
                <a:solidFill>
                  <a:srgbClr val="E5E7EB"/>
                </a:solidFill>
                <a:latin typeface="PingFang SC"/>
              </a:rPr>
              <a:t>60+ 城市，巴西全境覆盖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22C55E"/>
                </a:solidFill>
                <a:latin typeface="PingFang SC"/>
              </a:rPr>
              <a:t>30 min  </a:t>
            </a:r>
            <a:r>
              <a:rPr sz="1100">
                <a:solidFill>
                  <a:srgbClr val="E5E7EB"/>
                </a:solidFill>
                <a:latin typeface="PingFang SC"/>
              </a:rPr>
              <a:t>端到端实时延迟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22C55E"/>
                </a:solidFill>
                <a:latin typeface="PingFang SC"/>
              </a:rPr>
              <a:t>11 类  </a:t>
            </a:r>
            <a:r>
              <a:rPr sz="1100">
                <a:solidFill>
                  <a:srgbClr val="E5E7EB"/>
                </a:solidFill>
                <a:latin typeface="PingFang SC"/>
              </a:rPr>
              <a:t>犯罪类型分类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22C55E"/>
                </a:solidFill>
                <a:latin typeface="PingFang SC"/>
              </a:rPr>
              <a:t>$0  </a:t>
            </a:r>
            <a:r>
              <a:rPr sz="1100">
                <a:solidFill>
                  <a:srgbClr val="E5E7EB"/>
                </a:solidFill>
                <a:latin typeface="PingFang SC"/>
              </a:rPr>
              <a:t>/月运营成本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160520"/>
            <a:ext cx="5577840" cy="2377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29768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60A5FA"/>
                </a:solidFill>
                <a:latin typeface="PingFang SC"/>
              </a:rPr>
              <a:t>🎯 下一步规划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800600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FBBF24"/>
                </a:solidFill>
                <a:latin typeface="PingFang SC"/>
              </a:rPr>
              <a:t>🅰 高优  </a:t>
            </a:r>
            <a:r>
              <a:rPr sz="1200">
                <a:solidFill>
                  <a:srgbClr val="E5E7EB"/>
                </a:solidFill>
                <a:latin typeface="PingFang SC"/>
              </a:rPr>
              <a:t>LLM 分类替代关键词 → 准确率 78% → 95%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FBBF24"/>
                </a:solidFill>
                <a:latin typeface="PingFang SC"/>
              </a:rPr>
              <a:t>🅰 高优  </a:t>
            </a:r>
            <a:r>
              <a:rPr sz="1200">
                <a:solidFill>
                  <a:srgbClr val="E5E7EB"/>
                </a:solidFill>
                <a:latin typeface="PingFang SC"/>
              </a:rPr>
              <a:t>移动端 PWA + Push 推送通知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FBBF24"/>
                </a:solidFill>
                <a:latin typeface="PingFang SC"/>
              </a:rPr>
              <a:t>🅱 中优  </a:t>
            </a:r>
            <a:r>
              <a:rPr sz="1200">
                <a:solidFill>
                  <a:srgbClr val="E5E7EB"/>
                </a:solidFill>
                <a:latin typeface="PingFang SC"/>
              </a:rPr>
              <a:t>接入警方 Twitter 官方账号 → 5 分钟级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FBBF24"/>
                </a:solidFill>
                <a:latin typeface="PingFang SC"/>
              </a:rPr>
              <a:t>🅱 中优  </a:t>
            </a:r>
            <a:r>
              <a:rPr sz="1200">
                <a:solidFill>
                  <a:srgbClr val="E5E7EB"/>
                </a:solidFill>
                <a:latin typeface="PingFang SC"/>
              </a:rPr>
              <a:t>用户上报 UGC → 数据壁垒、社区粘性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FBBF24"/>
                </a:solidFill>
                <a:latin typeface="PingFang SC"/>
              </a:rPr>
              <a:t>🅲 探索  </a:t>
            </a:r>
            <a:r>
              <a:rPr sz="1200">
                <a:solidFill>
                  <a:srgbClr val="E5E7EB"/>
                </a:solidFill>
                <a:latin typeface="PingFang SC"/>
              </a:rPr>
              <a:t>AI 摘要 + 多语言（葡 → 英/中）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4160520"/>
            <a:ext cx="5577840" cy="2377440"/>
          </a:xfrm>
          <a:prstGeom prst="roundRect">
            <a:avLst/>
          </a:prstGeom>
          <a:solidFill>
            <a:srgbClr val="581C87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429768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84FC"/>
                </a:solidFill>
                <a:latin typeface="PingFang SC"/>
              </a:rPr>
              <a:t>💰 商业化机会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4800600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C084FC"/>
                </a:solidFill>
                <a:latin typeface="PingFang SC"/>
              </a:rPr>
              <a:t>广告  </a:t>
            </a:r>
            <a:r>
              <a:rPr sz="1200">
                <a:solidFill>
                  <a:srgbClr val="E5E7EB"/>
                </a:solidFill>
                <a:latin typeface="PingFang SC"/>
              </a:rPr>
              <a:t>本地商家按城市/邮编精准投放（餐饮、健身、地产）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C084FC"/>
                </a:solidFill>
                <a:latin typeface="PingFang SC"/>
              </a:rPr>
              <a:t>B2B  </a:t>
            </a:r>
            <a:r>
              <a:rPr sz="1200">
                <a:solidFill>
                  <a:srgbClr val="E5E7EB"/>
                </a:solidFill>
                <a:latin typeface="PingFang SC"/>
              </a:rPr>
              <a:t>保险公司车险定价 / 地产中介社区评估数据接口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C084FC"/>
                </a:solidFill>
                <a:latin typeface="PingFang SC"/>
              </a:rPr>
              <a:t>订阅  </a:t>
            </a:r>
            <a:r>
              <a:rPr sz="1200">
                <a:solidFill>
                  <a:srgbClr val="E5E7EB"/>
                </a:solidFill>
                <a:latin typeface="PingFang SC"/>
              </a:rPr>
              <a:t>"我家 1km 内的实时推送"高级用户付费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C084FC"/>
                </a:solidFill>
                <a:latin typeface="PingFang SC"/>
              </a:rPr>
              <a:t>数据  </a:t>
            </a:r>
            <a:r>
              <a:rPr sz="1200">
                <a:solidFill>
                  <a:srgbClr val="E5E7EB"/>
                </a:solidFill>
                <a:latin typeface="PingFang SC"/>
              </a:rPr>
              <a:t>API 售卖给媒体研究机构、政府智库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9CA3AF"/>
                </a:solidFill>
                <a:latin typeface="PingFang SC"/>
              </a:rPr>
              <a:t>📍 演示：crime-map-recife.vercel.app   ·   📅 2026.06   ·   🚀 Crime Map Brasil MVP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